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E3A5F"/>
                </a:solidFill>
                <a:latin typeface="Calibri"/>
              </a:rPr>
              <a:t>A real child. A checkpoint that does not work. A three-tier plan.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 b="0">
                <a:solidFill>
                  <a:srgbClr val="1A1A1A"/>
                </a:solidFill>
                <a:latin typeface="Calibri"/>
              </a:rPr>
              <a:t>Mosaic Variegated Aneuploidy (MVA). Cells lose and gain chromosomes.</a:t>
            </a:r>
          </a:p>
          <a:p>
            <a:pPr>
              <a:spcAft>
                <a:spcPts val="1200"/>
              </a:spcAft>
            </a:pPr>
            <a:r>
              <a:rPr sz="2200" b="0">
                <a:solidFill>
                  <a:srgbClr val="1A1A1A"/>
                </a:solidFill>
                <a:latin typeface="Calibri"/>
              </a:rPr>
              <a:t>Embryonal rhabdomyosarcoma. Severe growth failure. Nephrocalcinosis.</a:t>
            </a:r>
          </a:p>
          <a:p>
            <a:pPr>
              <a:spcAft>
                <a:spcPts val="1200"/>
              </a:spcAft>
            </a:pPr>
            <a:r>
              <a:rPr sz="2200" b="0">
                <a:solidFill>
                  <a:srgbClr val="1A1A1A"/>
                </a:solidFill>
                <a:latin typeface="Calibri"/>
              </a:rPr>
              <a:t>Team bigbag. Rare Disease, Real Kid: MVA Hackathon 2026.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E3A5F"/>
                </a:solidFill>
                <a:latin typeface="Calibri"/>
              </a:rPr>
              <a:t>The cause. Confirmed.</a:t>
            </a:r>
          </a:p>
        </p:txBody>
      </p:sp>
      <p:pic>
        <p:nvPicPr>
          <p:cNvPr id="3" name="Picture 2" descr="fig_evid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51560"/>
            <a:ext cx="10881360" cy="427500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26364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4B5563"/>
                </a:solidFill>
                <a:latin typeface="Calibri"/>
              </a:rPr>
              <a:t>Track 1 score: 100.0 rank points. F-max 1.000. Full match.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E3A5F"/>
                </a:solidFill>
                <a:latin typeface="Calibri"/>
              </a:rPr>
              <a:t>The constraint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400" b="0">
                <a:solidFill>
                  <a:srgbClr val="1A1A1A"/>
                </a:solidFill>
                <a:latin typeface="Calibri"/>
              </a:rPr>
              <a:t>No approved drug increases BubR1.</a:t>
            </a:r>
          </a:p>
          <a:p>
            <a:pPr>
              <a:spcAft>
                <a:spcPts val="1200"/>
              </a:spcAft>
            </a:pPr>
            <a:r>
              <a:rPr sz="2400" b="0">
                <a:solidFill>
                  <a:srgbClr val="1A1A1A"/>
                </a:solidFill>
                <a:latin typeface="Calibri"/>
              </a:rPr>
              <a:t>We must not decrease checkpoint function more. The checkpoint already does not work.</a:t>
            </a:r>
          </a:p>
          <a:p>
            <a:pPr>
              <a:spcAft>
                <a:spcPts val="1200"/>
              </a:spcAft>
            </a:pPr>
            <a:r>
              <a:rPr sz="2400" b="0">
                <a:solidFill>
                  <a:srgbClr val="1A1A1A"/>
                </a:solidFill>
                <a:latin typeface="Calibri"/>
              </a:rPr>
              <a:t>We map three target groups: the tumor, the stress, and the protein.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E3A5F"/>
                </a:solidFill>
                <a:latin typeface="Calibri"/>
              </a:rPr>
              <a:t>Mechanism. From genotype to drug.</a:t>
            </a:r>
          </a:p>
        </p:txBody>
      </p:sp>
      <p:pic>
        <p:nvPicPr>
          <p:cNvPr id="3" name="Picture 2" descr="fig_mechanis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987552"/>
            <a:ext cx="10058400" cy="566816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E3A5F"/>
                </a:solidFill>
                <a:latin typeface="Calibri"/>
              </a:rPr>
              <a:t>Tier A. Treat the signs that we see today.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143000"/>
            <a:ext cx="10881360" cy="1234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166534"/>
                </a:solidFill>
                <a:latin typeface="Calibri"/>
              </a:rPr>
              <a:t>Adavosertib plus irinotecan</a:t>
            </a:r>
          </a:p>
          <a:p>
            <a:r>
              <a:rPr sz="1600" b="0">
                <a:solidFill>
                  <a:srgbClr val="1A1A1A"/>
                </a:solidFill>
                <a:latin typeface="Calibri"/>
              </a:rPr>
              <a:t>A pediatric trial sets the dose (NCT02095132). The trial has a rhabdomyosarcoma arm.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606040"/>
            <a:ext cx="10881360" cy="1234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166534"/>
                </a:solidFill>
                <a:latin typeface="Calibri"/>
              </a:rPr>
              <a:t>Potassium citrate plus a thiazide</a:t>
            </a:r>
          </a:p>
          <a:p>
            <a:r>
              <a:rPr sz="1600" b="0">
                <a:solidFill>
                  <a:srgbClr val="1A1A1A"/>
                </a:solidFill>
                <a:latin typeface="Calibri"/>
              </a:rPr>
              <a:t>Standard care for nephrocalcinosis. Safe in children. Protects bone.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4069080"/>
            <a:ext cx="10881360" cy="1234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166534"/>
                </a:solidFill>
                <a:latin typeface="Calibri"/>
              </a:rPr>
              <a:t>Alisertib</a:t>
            </a:r>
          </a:p>
          <a:p>
            <a:r>
              <a:rPr sz="1600" b="0">
                <a:solidFill>
                  <a:srgbClr val="1A1A1A"/>
                </a:solidFill>
                <a:latin typeface="Calibri"/>
              </a:rPr>
              <a:t>Alternate mitotic drug. COG phase 2 trial ADVL0921.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E3A5F"/>
                </a:solidFill>
                <a:latin typeface="Calibri"/>
              </a:rPr>
              <a:t>Tier B. Decrease the stress.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143000"/>
            <a:ext cx="10881360" cy="1234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D4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1D4E89"/>
                </a:solidFill>
                <a:latin typeface="Calibri"/>
              </a:rPr>
              <a:t>Aneuploid cells increase mTOR.</a:t>
            </a:r>
          </a:p>
          <a:p>
            <a:r>
              <a:rPr sz="1600" b="0">
                <a:solidFill>
                  <a:srgbClr val="1A1A1A"/>
                </a:solidFill>
                <a:latin typeface="Calibri"/>
              </a:rPr>
              <a:t>These cells release inflammatory signals.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606040"/>
            <a:ext cx="10881360" cy="1234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D4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1D4E89"/>
                </a:solidFill>
                <a:latin typeface="Calibri"/>
              </a:rPr>
              <a:t>Everolimus decreases that signal.</a:t>
            </a:r>
          </a:p>
          <a:p>
            <a:r>
              <a:rPr sz="1600" b="0">
                <a:solidFill>
                  <a:srgbClr val="1A1A1A"/>
                </a:solidFill>
                <a:latin typeface="Calibri"/>
              </a:rPr>
              <a:t>Pediatric safety data are large. EXIST-1. Transplant infants.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4069080"/>
            <a:ext cx="10881360" cy="1234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D4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1D4E89"/>
                </a:solidFill>
                <a:latin typeface="Calibri"/>
              </a:rPr>
              <a:t>Honest claim</a:t>
            </a:r>
          </a:p>
          <a:p>
            <a:r>
              <a:rPr sz="1600" b="0">
                <a:solidFill>
                  <a:srgbClr val="1A1A1A"/>
                </a:solidFill>
                <a:latin typeface="Calibri"/>
              </a:rPr>
              <a:t>This drug decreases damage. This drug does not repair the checkpoint.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E3A5F"/>
                </a:solidFill>
                <a:latin typeface="Calibri"/>
              </a:rPr>
              <a:t>Tier C. Restore the protein.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143000"/>
            <a:ext cx="10881360" cy="1234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9A34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9A3412"/>
                </a:solidFill>
                <a:latin typeface="Calibri"/>
              </a:rPr>
              <a:t>Mouse data (Baker 2013)</a:t>
            </a:r>
          </a:p>
          <a:p>
            <a:r>
              <a:rPr sz="1600" b="0">
                <a:solidFill>
                  <a:srgbClr val="1A1A1A"/>
                </a:solidFill>
                <a:latin typeface="Calibri"/>
              </a:rPr>
              <a:t>More BubR1 repairs the checkpoint. More BubR1 extends lifespan.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606040"/>
            <a:ext cx="10881360" cy="1234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9A34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9A3412"/>
                </a:solidFill>
                <a:latin typeface="Calibri"/>
              </a:rPr>
              <a:t>This child still makes weakened BubR1 from the missense allele.</a:t>
            </a:r>
          </a:p>
          <a:p>
            <a:r>
              <a:rPr sz="1600" b="0">
                <a:solidFill>
                  <a:srgbClr val="1A1A1A"/>
                </a:solidFill>
                <a:latin typeface="Calibri"/>
              </a:rPr>
              <a:t>A small increase in BubR1 level can restore checkpoint function.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4069080"/>
            <a:ext cx="10881360" cy="1234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9A34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9A3412"/>
                </a:solidFill>
                <a:latin typeface="Calibri"/>
              </a:rPr>
              <a:t>Three routes. One goal.</a:t>
            </a:r>
          </a:p>
          <a:p>
            <a:r>
              <a:rPr sz="1600" b="0">
                <a:solidFill>
                  <a:srgbClr val="1A1A1A"/>
                </a:solidFill>
                <a:latin typeface="Calibri"/>
              </a:rPr>
              <a:t>AAV gene augmentation. SIRT2-axis stabilization. Peptide rescue.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E3A5F"/>
                </a:solidFill>
                <a:latin typeface="Calibri"/>
              </a:rPr>
              <a:t>Both alleles change the kinase domain. The scaffold stays.</a:t>
            </a:r>
          </a:p>
        </p:txBody>
      </p:sp>
      <p:pic>
        <p:nvPicPr>
          <p:cNvPr id="3" name="Picture 2" descr="fig_domain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11338560" cy="570383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E3A5F"/>
                </a:solidFill>
                <a:latin typeface="Calibri"/>
              </a:rPr>
              <a:t>Rigor. Three independent methods agree.</a:t>
            </a:r>
          </a:p>
        </p:txBody>
      </p:sp>
      <p:pic>
        <p:nvPicPr>
          <p:cNvPr id="3" name="Picture 2" descr="fig_exomis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960120"/>
            <a:ext cx="10881360" cy="54452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26364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4B5563"/>
                </a:solidFill>
                <a:latin typeface="Calibri"/>
              </a:rPr>
              <a:t>Panel scan. Exomiser on the full genome (94 s, no panel). Clinical databases. All point to BUB1B.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E3A5F"/>
                </a:solidFill>
                <a:latin typeface="Calibri"/>
              </a:rPr>
              <a:t>Scale. A laptop runs the pipeline.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 b="0">
                <a:solidFill>
                  <a:srgbClr val="1A1A1A"/>
                </a:solidFill>
                <a:latin typeface="Calibri"/>
              </a:rPr>
              <a:t>Open Targets. DGIdb. ChEMBL. everycure/matrix-scores (39.5 million pairs). All public APIs.</a:t>
            </a:r>
          </a:p>
          <a:p>
            <a:pPr>
              <a:spcAft>
                <a:spcPts val="1200"/>
              </a:spcAft>
            </a:pPr>
            <a:r>
              <a:rPr sz="2200" b="0">
                <a:solidFill>
                  <a:srgbClr val="1A1A1A"/>
                </a:solidFill>
                <a:latin typeface="Calibri"/>
              </a:rPr>
              <a:t>Full pipeline: about 6 hours and 1 USD of electricity. Genome-wide check: 94 seconds.</a:t>
            </a:r>
          </a:p>
          <a:p>
            <a:pPr>
              <a:spcAft>
                <a:spcPts val="1200"/>
              </a:spcAft>
            </a:pPr>
            <a:r>
              <a:rPr sz="2200" b="0">
                <a:solidFill>
                  <a:srgbClr val="1A1A1A"/>
                </a:solidFill>
                <a:latin typeface="Calibri"/>
              </a:rPr>
              <a:t>The method applies to other recessive chromosomal-instability disorders.</a:t>
            </a:r>
          </a:p>
          <a:p>
            <a:pPr>
              <a:spcAft>
                <a:spcPts val="1200"/>
              </a:spcAft>
            </a:pPr>
            <a:r>
              <a:rPr sz="2200" b="0">
                <a:solidFill>
                  <a:srgbClr val="1A1A1A"/>
                </a:solidFill>
                <a:latin typeface="Calibri"/>
              </a:rPr>
              <a:t>Code and evidence: github.com/bigbag/mva-hackathon-2026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E3A5F"/>
                </a:solidFill>
                <a:latin typeface="Calibri"/>
              </a:rPr>
              <a:t>The request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400" b="0">
                <a:solidFill>
                  <a:srgbClr val="1A1A1A"/>
                </a:solidFill>
                <a:latin typeface="Calibri"/>
              </a:rPr>
              <a:t>Give standard symptom care now.</a:t>
            </a:r>
          </a:p>
          <a:p>
            <a:pPr>
              <a:spcAft>
                <a:spcPts val="1200"/>
              </a:spcAft>
            </a:pPr>
            <a:r>
              <a:rPr sz="2400" b="0">
                <a:solidFill>
                  <a:srgbClr val="1A1A1A"/>
                </a:solidFill>
                <a:latin typeface="Calibri"/>
              </a:rPr>
              <a:t>Use trial-controlled cancer options when needed.</a:t>
            </a:r>
          </a:p>
          <a:p>
            <a:pPr>
              <a:spcAft>
                <a:spcPts val="1200"/>
              </a:spcAft>
            </a:pPr>
            <a:r>
              <a:rPr sz="2400" b="0">
                <a:solidFill>
                  <a:srgbClr val="1A1A1A"/>
                </a:solidFill>
                <a:latin typeface="Calibri"/>
              </a:rPr>
              <a:t>Start a research program on BubR1 restoration.</a:t>
            </a:r>
          </a:p>
          <a:p>
            <a:pPr>
              <a:spcAft>
                <a:spcPts val="1200"/>
              </a:spcAft>
            </a:pPr>
            <a:r>
              <a:rPr sz="2400" b="0">
                <a:solidFill>
                  <a:srgbClr val="1A1A1A"/>
                </a:solidFill>
                <a:latin typeface="Calibri"/>
              </a:rPr>
              <a:t>This family shared the genome of their child. We give them a clear plan.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E3A5F"/>
                </a:solidFill>
                <a:latin typeface="Calibri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 b="0">
                <a:solidFill>
                  <a:srgbClr val="1A1A1A"/>
                </a:solidFill>
                <a:latin typeface="Calibri"/>
              </a:rPr>
              <a:t>Team bigbag. github.com/bigbag/mva-hackathon-2026</a:t>
            </a:r>
          </a:p>
          <a:p>
            <a:pPr>
              <a:spcAft>
                <a:spcPts val="1200"/>
              </a:spcAft>
            </a:pPr>
            <a:r>
              <a:rPr sz="2200" b="0">
                <a:solidFill>
                  <a:srgbClr val="1A1A1A"/>
                </a:solidFill>
                <a:latin typeface="Calibri"/>
              </a:rPr>
              <a:t>Organizers: Sage Bionetworks, MVA Society, Hugging Face, BEACON.</a:t>
            </a:r>
          </a:p>
          <a:p>
            <a:pPr>
              <a:spcAft>
                <a:spcPts val="1200"/>
              </a:spcAft>
            </a:pPr>
            <a:r>
              <a:rPr sz="2200" b="0">
                <a:solidFill>
                  <a:srgbClr val="1A1A1A"/>
                </a:solidFill>
                <a:latin typeface="Calibri"/>
              </a:rPr>
              <a:t>Sponsors: AWS and Anthropic.</a:t>
            </a:r>
          </a:p>
          <a:p>
            <a:pPr>
              <a:spcAft>
                <a:spcPts val="1200"/>
              </a:spcAft>
            </a:pPr>
            <a:r>
              <a:rPr sz="2200" b="0">
                <a:solidFill>
                  <a:srgbClr val="1A1A1A"/>
                </a:solidFill>
                <a:latin typeface="Calibri"/>
              </a:rPr>
              <a:t>Above all, the family.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